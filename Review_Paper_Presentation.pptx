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studies</c:v>
                </c:pt>
              </c:strCache>
            </c:strRef>
          </c:tx>
          <c:spPr>
            <a:solidFill>
              <a:srgbClr val="0A2342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Legal &amp; social</c:v>
                </c:pt>
                <c:pt idx="1">
                  <c:v>AI in defense</c:v>
                </c:pt>
                <c:pt idx="2">
                  <c:v>Connected infra.</c:v>
                </c:pt>
                <c:pt idx="3">
                  <c:v>Org. &amp; economic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F7-4BB7-967A-62FB3744C8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12700" cap="flat">
              <a:solidFill>
                <a:srgbClr val="E6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34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Greet, say your name and department, then read out the paper title. About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six points quickly. Do not explain them here.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Start wide, then narrow down. About 1 minute. Speak, do not read the bullets word by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most important slide of the first half. Say clearly what is missing.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four objectives one by one.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Group the papers and compare; do not read them one by one.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Connect this group with the previous one. Say how it differs.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read the table aloud. Point out two or three interesting rows only. About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flow from top to bottom.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axes first, then the pattern.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your own thinking. Say at least one critical point. About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Only three findings. Keep the rest for questions.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Admitting limitations is a strength.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Repeat the main findings in short.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the audience and stop. 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6263640"/>
            <a:ext cx="10698480" cy="0"/>
          </a:xfrm>
          <a:prstGeom prst="line">
            <a:avLst/>
          </a:prstGeom>
          <a:noFill/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41908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  |  NUBTK</a:t>
            </a:r>
            <a:endParaRPr lang="en-US" sz="7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36792"/>
            <a:ext cx="11201400" cy="0"/>
          </a:xfrm>
          <a:prstGeom prst="line">
            <a:avLst/>
          </a:prstGeom>
          <a:noFill/>
          <a:ln w="1016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Paper Presentation  |  NUBTK</a:t>
            </a:r>
            <a:endParaRPr lang="en-US" sz="74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04672"/>
            <a:ext cx="44348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PAPER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440680" y="777240"/>
            <a:ext cx="0" cy="480060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806440" y="777240"/>
            <a:ext cx="5440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Cybersecurity in an Intelligent and Connected World: A Review of Legal, Technical, Organizational, and Economic Perspectives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80644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Md. Adnun Ahemed Methun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806440" y="234086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ID: 11230321315   |   Section: 6D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06440" y="278892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University of Business and Technology Khulna, Bangladesh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06440" y="369417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Mail: adnunahemed@gmail.com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29 September 2026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will cover in this presentation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7" y="1161288"/>
            <a:ext cx="2638747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184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476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and motivation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227685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1821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this review addresses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463040" y="351129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087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4165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selected papers, grouped by theme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463040" y="474573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6184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95160" y="16002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0" y="19476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papers were selected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95160" y="227685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85292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&amp; Discussion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95160" y="31821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and findings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95160" y="351129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40873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9516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44165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scope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95160" y="4745736"/>
            <a:ext cx="43891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of cybersecurity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2084832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093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4712" y="158648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protects data and systems so information stays confidential, intact, and available.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5798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4712" y="213512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5.4 billion people are online, so the stakes rise every year [10].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268376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now study laws, AI-based defenses, connected systems, and business risk [1]–[10].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2552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24712" y="323240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tools: machine learning, EDR/XDR, digital twins, training, and governance.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03720" y="1417320"/>
            <a:ext cx="3886200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1DC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Rounded Rectangle 15"/>
          <p:cNvSpPr/>
          <p:nvPr/>
        </p:nvSpPr>
        <p:spPr>
          <a:xfrm>
            <a:off x="7223760" y="1691640"/>
            <a:ext cx="3291840" cy="960120"/>
          </a:xfrm>
          <a:prstGeom prst="roundRect">
            <a:avLst>
              <a:gd name="adj" fmla="val 8000"/>
            </a:avLst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Confidentiality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Only the right people see the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880360"/>
            <a:ext cx="3291840" cy="960120"/>
          </a:xfrm>
          <a:prstGeom prst="roundRect">
            <a:avLst>
              <a:gd name="adj" fmla="val 8000"/>
            </a:avLst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Integrity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Data stays accurate and unaltered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4069080"/>
            <a:ext cx="3291840" cy="960120"/>
          </a:xfrm>
          <a:prstGeom prst="roundRect">
            <a:avLst>
              <a:gd name="adj" fmla="val 8000"/>
            </a:avLst>
          </a:prstGeom>
          <a:solidFill>
            <a:srgbClr val="0A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Availability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Systems work when people need them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 existing research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204087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81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228600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research</a:t>
            </a:r>
            <a:endParaRPr lang="en-US" sz="1720" dirty="0"/>
          </a:p>
        </p:txBody>
      </p:sp>
      <p:sp>
        <p:nvSpPr>
          <p:cNvPr id="8" name="Text 6"/>
          <p:cNvSpPr/>
          <p:nvPr/>
        </p:nvSpPr>
        <p:spPr>
          <a:xfrm>
            <a:off x="822960" y="2633472"/>
            <a:ext cx="29718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are spread across law, AI, infrastructure, and business, so no single overview exists.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1581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26280" y="1975104"/>
            <a:ext cx="228600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enforcement</a:t>
            </a:r>
            <a:endParaRPr lang="en-US" sz="1720" dirty="0"/>
          </a:p>
        </p:txBody>
      </p:sp>
      <p:sp>
        <p:nvSpPr>
          <p:cNvPr id="12" name="Text 10"/>
          <p:cNvSpPr/>
          <p:nvPr/>
        </p:nvSpPr>
        <p:spPr>
          <a:xfrm>
            <a:off x="4526280" y="2633472"/>
            <a:ext cx="29718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Laws exist, but enforcement, incident reporting, and institutional capacity remain weak.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0" y="158191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9600" y="1975104"/>
            <a:ext cx="228600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2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Dual-use technology</a:t>
            </a:r>
            <a:endParaRPr lang="en-US" sz="1720" dirty="0"/>
          </a:p>
        </p:txBody>
      </p:sp>
      <p:sp>
        <p:nvSpPr>
          <p:cNvPr id="16" name="Text 14"/>
          <p:cNvSpPr/>
          <p:nvPr/>
        </p:nvSpPr>
        <p:spPr>
          <a:xfrm>
            <a:off x="8229600" y="2633472"/>
            <a:ext cx="2971800" cy="1024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 both defenders and attackers, and connected systems widen the attack surface.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gaps are the reason this review was carried out.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of This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paper sets out to do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 flipV="1">
            <a:off x="658368" y="1143000"/>
            <a:ext cx="2190340" cy="18288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463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7048" y="1444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recent studies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527048" y="16824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review ten recent studies on law, AI, and business risk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208483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463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22008" y="14447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methods and findings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6922008" y="168249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compare their focus, methods, and reported results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208483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27048" y="29992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common limitations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1527048" y="3236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identify weak enforcement, false alarms, and skill gaps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363931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01752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22008" y="29992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future directions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6922008" y="32369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suggest directions for resilient cybersecurity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639312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Group 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social, and business perspectives: papers [1], [5], [6], [8], [10]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7" y="1161288"/>
            <a:ext cx="4854409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26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78992" y="1418844"/>
            <a:ext cx="594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Watney [1] examines POPIA and the Cybercrimes Act; study [8] links Nigerian cybercrime to social causes.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78992" y="1894332"/>
            <a:ext cx="594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weak enforcement, underreporting, and no dedicated cyberlaw in Nigeria.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78992" y="2369820"/>
            <a:ext cx="594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[5], [6], [10] cover business threats, the Norsk Hydro attack, and global vulnerability.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529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78992" y="2845308"/>
            <a:ext cx="594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skills shortage, tight budgets, and low awareness slow progress.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328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78992" y="3320796"/>
            <a:ext cx="5943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observation: laws and tools fail without people, training, and governance.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0" y="1554480"/>
            <a:ext cx="3474720" cy="3383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1DC"/>
            </a:solidFill>
          </a:ln>
        </p:spPr>
        <p:txBody>
          <a:bodyPr wrap="square" lIns="182880" tIns="182880" rIns="182880" bIns="127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342"/>
                </a:solidFill>
                <a:latin typeface="Arial"/>
              </a:rPr>
              <a:t>Cost of a cyber attack [6]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Direct: system repair, legal bills, fines, and downtime.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Indirect: reputation damage, lost customers, and weaker competitiveness.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Norsk Hydro (2019) recovered because it had a response plan and refused to pay the ransom.</a:t>
            </a:r>
          </a:p>
        </p:txBody>
      </p:sp>
      <p:sp>
        <p:nvSpPr>
          <p:cNvPr id="17" name="Text 14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— Group 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and AI-based approaches: papers [2], [3], [4], [7], [9]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7" y="1161288"/>
            <a:ext cx="4397209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897880" y="14264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53912" y="1418844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and [9]: AI and LLMs help defenders, arm attackers, and can be attacked.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97880" y="19019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53912" y="1894332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traces EDR from signature-based tools to AI-driven detection and XDR.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97880" y="23774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53912" y="2369820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tests seven ML models on UNSW-NB15; Decision Tree and Random Forest do best.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97880" y="28529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53912" y="2845308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false alarms, no real-time testing, and larger attack surface [3].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897880" y="3328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53912" y="3320796"/>
            <a:ext cx="512064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 Group A: it studies tools and data, not enforcement, culture, or cost.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1536192"/>
            <a:ext cx="3977640" cy="34930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8D1DC"/>
            </a:solidFill>
          </a:ln>
        </p:spPr>
        <p:txBody>
          <a:bodyPr wrap="square" lIns="182880" tIns="182880" rIns="182880" bIns="1270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A2342"/>
                </a:solidFill>
                <a:latin typeface="Arial"/>
              </a:rPr>
              <a:t>AI is dual-use [2], [9]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Defenders: spot patterns, flag phishing, respond faster.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Attackers: deepfakes, targeted phishing, smarter malware.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LLMs are targets too: data poisoning and prompt injection.</a:t>
            </a:r>
          </a:p>
        </p:txBody>
      </p:sp>
      <p:sp>
        <p:nvSpPr>
          <p:cNvPr id="17" name="Text 14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Reviewed Papers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 by year, then by reference number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299044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21792" y="593445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: publication year not confirmed.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201" name="Shape 3"/>
          <p:cNvSpPr/>
          <p:nvPr/>
        </p:nvSpPr>
        <p:spPr>
          <a:xfrm>
            <a:off x="594360" y="1371600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2" name="Shape 3"/>
          <p:cNvSpPr/>
          <p:nvPr/>
        </p:nvSpPr>
        <p:spPr>
          <a:xfrm>
            <a:off x="594360" y="1773936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pe 3"/>
          <p:cNvSpPr/>
          <p:nvPr/>
        </p:nvSpPr>
        <p:spPr>
          <a:xfrm>
            <a:off x="594360" y="2176272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Shape 3"/>
          <p:cNvSpPr/>
          <p:nvPr/>
        </p:nvSpPr>
        <p:spPr>
          <a:xfrm>
            <a:off x="594360" y="257860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pe 3"/>
          <p:cNvSpPr/>
          <p:nvPr/>
        </p:nvSpPr>
        <p:spPr>
          <a:xfrm>
            <a:off x="594360" y="2980944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6" name="Shape 3"/>
          <p:cNvSpPr/>
          <p:nvPr/>
        </p:nvSpPr>
        <p:spPr>
          <a:xfrm>
            <a:off x="594360" y="3383280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7" name="Shape 3"/>
          <p:cNvSpPr/>
          <p:nvPr/>
        </p:nvSpPr>
        <p:spPr>
          <a:xfrm>
            <a:off x="594360" y="3785616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8" name="Shape 3"/>
          <p:cNvSpPr/>
          <p:nvPr/>
        </p:nvSpPr>
        <p:spPr>
          <a:xfrm>
            <a:off x="594360" y="4187952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9" name="Shape 3"/>
          <p:cNvSpPr/>
          <p:nvPr/>
        </p:nvSpPr>
        <p:spPr>
          <a:xfrm>
            <a:off x="594360" y="4590288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0" name="Shape 3"/>
          <p:cNvSpPr/>
          <p:nvPr/>
        </p:nvSpPr>
        <p:spPr>
          <a:xfrm>
            <a:off x="594360" y="4992624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1" name="Shape 3"/>
          <p:cNvSpPr/>
          <p:nvPr/>
        </p:nvSpPr>
        <p:spPr>
          <a:xfrm>
            <a:off x="594360" y="5394960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2" name="Shape 3"/>
          <p:cNvSpPr/>
          <p:nvPr/>
        </p:nvSpPr>
        <p:spPr>
          <a:xfrm>
            <a:off x="594360" y="5797296"/>
            <a:ext cx="109728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12"/>
          <p:cNvSpPr/>
          <p:nvPr/>
        </p:nvSpPr>
        <p:spPr>
          <a:xfrm>
            <a:off x="59436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Shape 12"/>
          <p:cNvSpPr/>
          <p:nvPr/>
        </p:nvSpPr>
        <p:spPr>
          <a:xfrm>
            <a:off x="123444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Shape 12"/>
          <p:cNvSpPr/>
          <p:nvPr/>
        </p:nvSpPr>
        <p:spPr>
          <a:xfrm>
            <a:off x="196596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Shape 12"/>
          <p:cNvSpPr/>
          <p:nvPr/>
        </p:nvSpPr>
        <p:spPr>
          <a:xfrm>
            <a:off x="416052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7" name="Shape 12"/>
          <p:cNvSpPr/>
          <p:nvPr/>
        </p:nvSpPr>
        <p:spPr>
          <a:xfrm>
            <a:off x="617220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Shape 12"/>
          <p:cNvSpPr/>
          <p:nvPr/>
        </p:nvSpPr>
        <p:spPr>
          <a:xfrm>
            <a:off x="891540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9" name="Shape 12"/>
          <p:cNvSpPr/>
          <p:nvPr/>
        </p:nvSpPr>
        <p:spPr>
          <a:xfrm>
            <a:off x="11567160" y="1371600"/>
            <a:ext cx="0" cy="4425696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Text 19"/>
          <p:cNvSpPr/>
          <p:nvPr/>
        </p:nvSpPr>
        <p:spPr>
          <a:xfrm>
            <a:off x="649224" y="140817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Ref.</a:t>
            </a:r>
            <a:endParaRPr lang="en-US" sz="1070" dirty="0"/>
          </a:p>
        </p:txBody>
      </p:sp>
      <p:sp>
        <p:nvSpPr>
          <p:cNvPr id="221" name="Text 19"/>
          <p:cNvSpPr/>
          <p:nvPr/>
        </p:nvSpPr>
        <p:spPr>
          <a:xfrm>
            <a:off x="1289304" y="1408176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070" dirty="0"/>
          </a:p>
        </p:txBody>
      </p:sp>
      <p:sp>
        <p:nvSpPr>
          <p:cNvPr id="222" name="Text 19"/>
          <p:cNvSpPr/>
          <p:nvPr/>
        </p:nvSpPr>
        <p:spPr>
          <a:xfrm>
            <a:off x="2020824" y="1408176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70" dirty="0"/>
          </a:p>
        </p:txBody>
      </p:sp>
      <p:sp>
        <p:nvSpPr>
          <p:cNvPr id="223" name="Text 19"/>
          <p:cNvSpPr/>
          <p:nvPr/>
        </p:nvSpPr>
        <p:spPr>
          <a:xfrm>
            <a:off x="4215383" y="140817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Case</a:t>
            </a:r>
            <a:endParaRPr lang="en-US" sz="1070" dirty="0"/>
          </a:p>
        </p:txBody>
      </p:sp>
      <p:sp>
        <p:nvSpPr>
          <p:cNvPr id="224" name="Text 19"/>
          <p:cNvSpPr/>
          <p:nvPr/>
        </p:nvSpPr>
        <p:spPr>
          <a:xfrm>
            <a:off x="6227064" y="140817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result</a:t>
            </a:r>
            <a:endParaRPr lang="en-US" sz="1070" dirty="0"/>
          </a:p>
        </p:txBody>
      </p:sp>
      <p:sp>
        <p:nvSpPr>
          <p:cNvPr id="225" name="Text 19"/>
          <p:cNvSpPr/>
          <p:nvPr/>
        </p:nvSpPr>
        <p:spPr>
          <a:xfrm>
            <a:off x="8970264" y="140817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070" dirty="0"/>
          </a:p>
        </p:txBody>
      </p:sp>
      <p:sp>
        <p:nvSpPr>
          <p:cNvPr id="226" name="Text 25"/>
          <p:cNvSpPr/>
          <p:nvPr/>
        </p:nvSpPr>
        <p:spPr>
          <a:xfrm>
            <a:off x="649224" y="181051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</a:t>
            </a:r>
            <a:endParaRPr lang="en-US" sz="960" dirty="0"/>
          </a:p>
        </p:txBody>
      </p:sp>
      <p:sp>
        <p:nvSpPr>
          <p:cNvPr id="227" name="Text 25"/>
          <p:cNvSpPr/>
          <p:nvPr/>
        </p:nvSpPr>
        <p:spPr>
          <a:xfrm>
            <a:off x="1289304" y="1810512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60" dirty="0"/>
          </a:p>
        </p:txBody>
      </p:sp>
      <p:sp>
        <p:nvSpPr>
          <p:cNvPr id="228" name="Text 25"/>
          <p:cNvSpPr/>
          <p:nvPr/>
        </p:nvSpPr>
        <p:spPr>
          <a:xfrm>
            <a:off x="2020824" y="1810512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models: DT, RF, SVM, LDA, AdaBoost</a:t>
            </a:r>
            <a:endParaRPr lang="en-US" sz="960" dirty="0"/>
          </a:p>
        </p:txBody>
      </p:sp>
      <p:sp>
        <p:nvSpPr>
          <p:cNvPr id="229" name="Text 25"/>
          <p:cNvSpPr/>
          <p:nvPr/>
        </p:nvSpPr>
        <p:spPr>
          <a:xfrm>
            <a:off x="4215383" y="181051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UNSW-NB15 with SMOTE</a:t>
            </a:r>
            <a:endParaRPr lang="en-US" sz="960" dirty="0"/>
          </a:p>
        </p:txBody>
      </p:sp>
      <p:sp>
        <p:nvSpPr>
          <p:cNvPr id="230" name="Text 25"/>
          <p:cNvSpPr/>
          <p:nvPr/>
        </p:nvSpPr>
        <p:spPr>
          <a:xfrm>
            <a:off x="6227064" y="181051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 and RF best at detecting attacks</a:t>
            </a:r>
            <a:endParaRPr lang="en-US" sz="960" dirty="0"/>
          </a:p>
        </p:txBody>
      </p:sp>
      <p:sp>
        <p:nvSpPr>
          <p:cNvPr id="231" name="Text 25"/>
          <p:cNvSpPr/>
          <p:nvPr/>
        </p:nvSpPr>
        <p:spPr>
          <a:xfrm>
            <a:off x="8970264" y="181051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tested on real-time data</a:t>
            </a:r>
            <a:endParaRPr lang="en-US" sz="960" dirty="0"/>
          </a:p>
        </p:txBody>
      </p:sp>
      <p:sp>
        <p:nvSpPr>
          <p:cNvPr id="232" name="Text 25"/>
          <p:cNvSpPr/>
          <p:nvPr/>
        </p:nvSpPr>
        <p:spPr>
          <a:xfrm>
            <a:off x="649224" y="221284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</a:t>
            </a:r>
            <a:endParaRPr lang="en-US" sz="960" dirty="0"/>
          </a:p>
        </p:txBody>
      </p:sp>
      <p:sp>
        <p:nvSpPr>
          <p:cNvPr id="233" name="Text 25"/>
          <p:cNvSpPr/>
          <p:nvPr/>
        </p:nvSpPr>
        <p:spPr>
          <a:xfrm>
            <a:off x="1289304" y="2212848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234" name="Text 25"/>
          <p:cNvSpPr/>
          <p:nvPr/>
        </p:nvSpPr>
        <p:spPr>
          <a:xfrm>
            <a:off x="2020824" y="2212848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analysis: POPIA, Cybercrimes Act</a:t>
            </a:r>
            <a:endParaRPr lang="en-US" sz="960" dirty="0"/>
          </a:p>
        </p:txBody>
      </p:sp>
      <p:sp>
        <p:nvSpPr>
          <p:cNvPr id="235" name="Text 25"/>
          <p:cNvSpPr/>
          <p:nvPr/>
        </p:nvSpPr>
        <p:spPr>
          <a:xfrm>
            <a:off x="4215383" y="221284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Breaches: Experian, Dis-Chem, others</a:t>
            </a:r>
            <a:endParaRPr lang="en-US" sz="960" dirty="0"/>
          </a:p>
        </p:txBody>
      </p:sp>
      <p:sp>
        <p:nvSpPr>
          <p:cNvPr id="236" name="Text 25"/>
          <p:cNvSpPr/>
          <p:nvPr/>
        </p:nvSpPr>
        <p:spPr>
          <a:xfrm>
            <a:off x="6227064" y="221284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laws, but weakly enforced</a:t>
            </a:r>
            <a:endParaRPr lang="en-US" sz="960" dirty="0"/>
          </a:p>
        </p:txBody>
      </p:sp>
      <p:sp>
        <p:nvSpPr>
          <p:cNvPr id="237" name="Text 25"/>
          <p:cNvSpPr/>
          <p:nvPr/>
        </p:nvSpPr>
        <p:spPr>
          <a:xfrm>
            <a:off x="8970264" y="221284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Underreporting; fast-moving tech</a:t>
            </a:r>
            <a:endParaRPr lang="en-US" sz="960" dirty="0"/>
          </a:p>
        </p:txBody>
      </p:sp>
      <p:sp>
        <p:nvSpPr>
          <p:cNvPr id="238" name="Text 25"/>
          <p:cNvSpPr/>
          <p:nvPr/>
        </p:nvSpPr>
        <p:spPr>
          <a:xfrm>
            <a:off x="649224" y="261518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</a:t>
            </a:r>
            <a:endParaRPr lang="en-US" sz="960" dirty="0"/>
          </a:p>
        </p:txBody>
      </p:sp>
      <p:sp>
        <p:nvSpPr>
          <p:cNvPr id="239" name="Text 25"/>
          <p:cNvSpPr/>
          <p:nvPr/>
        </p:nvSpPr>
        <p:spPr>
          <a:xfrm>
            <a:off x="1289304" y="2615184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240" name="Text 25"/>
          <p:cNvSpPr/>
          <p:nvPr/>
        </p:nvSpPr>
        <p:spPr>
          <a:xfrm>
            <a:off x="2020824" y="2615184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analysis of digital twins</a:t>
            </a:r>
            <a:endParaRPr lang="en-US" sz="960" dirty="0"/>
          </a:p>
        </p:txBody>
      </p:sp>
      <p:sp>
        <p:nvSpPr>
          <p:cNvPr id="241" name="Text 25"/>
          <p:cNvSpPr/>
          <p:nvPr/>
        </p:nvSpPr>
        <p:spPr>
          <a:xfrm>
            <a:off x="4215383" y="261518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4.0 systems</a:t>
            </a:r>
            <a:endParaRPr lang="en-US" sz="960" dirty="0"/>
          </a:p>
        </p:txBody>
      </p:sp>
      <p:sp>
        <p:nvSpPr>
          <p:cNvPr id="242" name="Text 25"/>
          <p:cNvSpPr/>
          <p:nvPr/>
        </p:nvSpPr>
        <p:spPr>
          <a:xfrm>
            <a:off x="6227064" y="261518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Twins allow safe attack simulation</a:t>
            </a:r>
            <a:endParaRPr lang="en-US" sz="960" dirty="0"/>
          </a:p>
        </p:txBody>
      </p:sp>
      <p:sp>
        <p:nvSpPr>
          <p:cNvPr id="243" name="Text 25"/>
          <p:cNvSpPr/>
          <p:nvPr/>
        </p:nvSpPr>
        <p:spPr>
          <a:xfrm>
            <a:off x="8970264" y="261518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attack surface</a:t>
            </a:r>
            <a:endParaRPr lang="en-US" sz="960" dirty="0"/>
          </a:p>
        </p:txBody>
      </p:sp>
      <p:sp>
        <p:nvSpPr>
          <p:cNvPr id="244" name="Text 25"/>
          <p:cNvSpPr/>
          <p:nvPr/>
        </p:nvSpPr>
        <p:spPr>
          <a:xfrm>
            <a:off x="649224" y="301752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</a:t>
            </a:r>
            <a:endParaRPr lang="en-US" sz="960" dirty="0"/>
          </a:p>
        </p:txBody>
      </p:sp>
      <p:sp>
        <p:nvSpPr>
          <p:cNvPr id="245" name="Text 25"/>
          <p:cNvSpPr/>
          <p:nvPr/>
        </p:nvSpPr>
        <p:spPr>
          <a:xfrm>
            <a:off x="1289304" y="3017520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246" name="Text 25"/>
          <p:cNvSpPr/>
          <p:nvPr/>
        </p:nvSpPr>
        <p:spPr>
          <a:xfrm>
            <a:off x="2020824" y="3017520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signature-based to AI-driven EDR</a:t>
            </a:r>
            <a:endParaRPr lang="en-US" sz="960" dirty="0"/>
          </a:p>
        </p:txBody>
      </p:sp>
      <p:sp>
        <p:nvSpPr>
          <p:cNvPr id="247" name="Text 25"/>
          <p:cNvSpPr/>
          <p:nvPr/>
        </p:nvSpPr>
        <p:spPr>
          <a:xfrm>
            <a:off x="4215383" y="301752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960" dirty="0"/>
          </a:p>
        </p:txBody>
      </p:sp>
      <p:sp>
        <p:nvSpPr>
          <p:cNvPr id="248" name="Text 25"/>
          <p:cNvSpPr/>
          <p:nvPr/>
        </p:nvSpPr>
        <p:spPr>
          <a:xfrm>
            <a:off x="6227064" y="301752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and AI make defense proactive</a:t>
            </a:r>
            <a:endParaRPr lang="en-US" sz="960" dirty="0"/>
          </a:p>
        </p:txBody>
      </p:sp>
      <p:sp>
        <p:nvSpPr>
          <p:cNvPr id="249" name="Text 25"/>
          <p:cNvSpPr/>
          <p:nvPr/>
        </p:nvSpPr>
        <p:spPr>
          <a:xfrm>
            <a:off x="8970264" y="301752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alarms; high resource use</a:t>
            </a:r>
            <a:endParaRPr lang="en-US" sz="960" dirty="0"/>
          </a:p>
        </p:txBody>
      </p:sp>
      <p:sp>
        <p:nvSpPr>
          <p:cNvPr id="250" name="Text 25"/>
          <p:cNvSpPr/>
          <p:nvPr/>
        </p:nvSpPr>
        <p:spPr>
          <a:xfrm>
            <a:off x="649224" y="341985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</a:t>
            </a:r>
            <a:endParaRPr lang="en-US" sz="960" dirty="0"/>
          </a:p>
        </p:txBody>
      </p:sp>
      <p:sp>
        <p:nvSpPr>
          <p:cNvPr id="251" name="Text 25"/>
          <p:cNvSpPr/>
          <p:nvPr/>
        </p:nvSpPr>
        <p:spPr>
          <a:xfrm>
            <a:off x="1289304" y="3419856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252" name="Text 25"/>
          <p:cNvSpPr/>
          <p:nvPr/>
        </p:nvSpPr>
        <p:spPr>
          <a:xfrm>
            <a:off x="2020824" y="3419856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external and internal threats</a:t>
            </a:r>
            <a:endParaRPr lang="en-US" sz="960" dirty="0"/>
          </a:p>
        </p:txBody>
      </p:sp>
      <p:sp>
        <p:nvSpPr>
          <p:cNvPr id="253" name="Text 25"/>
          <p:cNvSpPr/>
          <p:nvPr/>
        </p:nvSpPr>
        <p:spPr>
          <a:xfrm>
            <a:off x="4215383" y="341985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organizations</a:t>
            </a:r>
            <a:endParaRPr lang="en-US" sz="960" dirty="0"/>
          </a:p>
        </p:txBody>
      </p:sp>
      <p:sp>
        <p:nvSpPr>
          <p:cNvPr id="254" name="Text 25"/>
          <p:cNvSpPr/>
          <p:nvPr/>
        </p:nvSpPr>
        <p:spPr>
          <a:xfrm>
            <a:off x="6227064" y="341985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Culture, training, governance matter</a:t>
            </a:r>
            <a:endParaRPr lang="en-US" sz="960" dirty="0"/>
          </a:p>
        </p:txBody>
      </p:sp>
      <p:sp>
        <p:nvSpPr>
          <p:cNvPr id="255" name="Text 25"/>
          <p:cNvSpPr/>
          <p:nvPr/>
        </p:nvSpPr>
        <p:spPr>
          <a:xfrm>
            <a:off x="8970264" y="341985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shortage; tight budgets</a:t>
            </a:r>
            <a:endParaRPr lang="en-US" sz="960" dirty="0"/>
          </a:p>
        </p:txBody>
      </p:sp>
      <p:sp>
        <p:nvSpPr>
          <p:cNvPr id="256" name="Text 25"/>
          <p:cNvSpPr/>
          <p:nvPr/>
        </p:nvSpPr>
        <p:spPr>
          <a:xfrm>
            <a:off x="649224" y="3822192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</a:t>
            </a:r>
            <a:endParaRPr lang="en-US" sz="960" dirty="0"/>
          </a:p>
        </p:txBody>
      </p:sp>
      <p:sp>
        <p:nvSpPr>
          <p:cNvPr id="257" name="Text 25"/>
          <p:cNvSpPr/>
          <p:nvPr/>
        </p:nvSpPr>
        <p:spPr>
          <a:xfrm>
            <a:off x="1289304" y="3822192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258" name="Text 25"/>
          <p:cNvSpPr/>
          <p:nvPr/>
        </p:nvSpPr>
        <p:spPr>
          <a:xfrm>
            <a:off x="2020824" y="3822192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plus case study</a:t>
            </a:r>
            <a:endParaRPr lang="en-US" sz="960" dirty="0"/>
          </a:p>
        </p:txBody>
      </p:sp>
      <p:sp>
        <p:nvSpPr>
          <p:cNvPr id="259" name="Text 25"/>
          <p:cNvSpPr/>
          <p:nvPr/>
        </p:nvSpPr>
        <p:spPr>
          <a:xfrm>
            <a:off x="4215383" y="382219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Norsk Hydro ransomware, 2019</a:t>
            </a:r>
            <a:endParaRPr lang="en-US" sz="960" dirty="0"/>
          </a:p>
        </p:txBody>
      </p:sp>
      <p:sp>
        <p:nvSpPr>
          <p:cNvPr id="260" name="Text 25"/>
          <p:cNvSpPr/>
          <p:nvPr/>
        </p:nvSpPr>
        <p:spPr>
          <a:xfrm>
            <a:off x="6227064" y="3822192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enabled recovery</a:t>
            </a:r>
            <a:endParaRPr lang="en-US" sz="960" dirty="0"/>
          </a:p>
        </p:txBody>
      </p:sp>
      <p:sp>
        <p:nvSpPr>
          <p:cNvPr id="261" name="Text 25"/>
          <p:cNvSpPr/>
          <p:nvPr/>
        </p:nvSpPr>
        <p:spPr>
          <a:xfrm>
            <a:off x="8970264" y="3822192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Rests on one main case</a:t>
            </a:r>
            <a:endParaRPr lang="en-US" sz="960" dirty="0"/>
          </a:p>
        </p:txBody>
      </p:sp>
      <p:sp>
        <p:nvSpPr>
          <p:cNvPr id="262" name="Text 25"/>
          <p:cNvSpPr/>
          <p:nvPr/>
        </p:nvSpPr>
        <p:spPr>
          <a:xfrm>
            <a:off x="649224" y="4224528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</a:t>
            </a:r>
            <a:endParaRPr lang="en-US" sz="960" dirty="0"/>
          </a:p>
        </p:txBody>
      </p:sp>
      <p:sp>
        <p:nvSpPr>
          <p:cNvPr id="263" name="Text 25"/>
          <p:cNvSpPr/>
          <p:nvPr/>
        </p:nvSpPr>
        <p:spPr>
          <a:xfrm>
            <a:off x="1289304" y="4224528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60" dirty="0"/>
          </a:p>
        </p:txBody>
      </p:sp>
      <p:sp>
        <p:nvSpPr>
          <p:cNvPr id="264" name="Text 25"/>
          <p:cNvSpPr/>
          <p:nvPr/>
        </p:nvSpPr>
        <p:spPr>
          <a:xfrm>
            <a:off x="2020824" y="4224528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three LLM roles</a:t>
            </a:r>
            <a:endParaRPr lang="en-US" sz="960" dirty="0"/>
          </a:p>
        </p:txBody>
      </p:sp>
      <p:sp>
        <p:nvSpPr>
          <p:cNvPr id="265" name="Text 25"/>
          <p:cNvSpPr/>
          <p:nvPr/>
        </p:nvSpPr>
        <p:spPr>
          <a:xfrm>
            <a:off x="4215383" y="4224528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and known attacks</a:t>
            </a:r>
            <a:endParaRPr lang="en-US" sz="960" dirty="0"/>
          </a:p>
        </p:txBody>
      </p:sp>
      <p:sp>
        <p:nvSpPr>
          <p:cNvPr id="266" name="Text 25"/>
          <p:cNvSpPr/>
          <p:nvPr/>
        </p:nvSpPr>
        <p:spPr>
          <a:xfrm>
            <a:off x="6227064" y="42245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LLMs: guardians, enablers, targets</a:t>
            </a:r>
            <a:endParaRPr lang="en-US" sz="960" dirty="0"/>
          </a:p>
        </p:txBody>
      </p:sp>
      <p:sp>
        <p:nvSpPr>
          <p:cNvPr id="267" name="Text 25"/>
          <p:cNvSpPr/>
          <p:nvPr/>
        </p:nvSpPr>
        <p:spPr>
          <a:xfrm>
            <a:off x="8970264" y="4224528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Poisoning; prompt injection</a:t>
            </a:r>
            <a:endParaRPr lang="en-US" sz="960" dirty="0"/>
          </a:p>
        </p:txBody>
      </p:sp>
      <p:sp>
        <p:nvSpPr>
          <p:cNvPr id="268" name="Text 25"/>
          <p:cNvSpPr/>
          <p:nvPr/>
        </p:nvSpPr>
        <p:spPr>
          <a:xfrm>
            <a:off x="649224" y="4626864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</a:t>
            </a:r>
            <a:endParaRPr lang="en-US" sz="960" dirty="0"/>
          </a:p>
        </p:txBody>
      </p:sp>
      <p:sp>
        <p:nvSpPr>
          <p:cNvPr id="269" name="Text 25"/>
          <p:cNvSpPr/>
          <p:nvPr/>
        </p:nvSpPr>
        <p:spPr>
          <a:xfrm>
            <a:off x="1289304" y="4626864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270" name="Text 25"/>
          <p:cNvSpPr/>
          <p:nvPr/>
        </p:nvSpPr>
        <p:spPr>
          <a:xfrm>
            <a:off x="2020824" y="4626864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of AI in security</a:t>
            </a:r>
            <a:endParaRPr lang="en-US" sz="960" dirty="0"/>
          </a:p>
        </p:txBody>
      </p:sp>
      <p:sp>
        <p:nvSpPr>
          <p:cNvPr id="271" name="Text 25"/>
          <p:cNvSpPr/>
          <p:nvPr/>
        </p:nvSpPr>
        <p:spPr>
          <a:xfrm>
            <a:off x="4215383" y="462686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960" dirty="0"/>
          </a:p>
        </p:txBody>
      </p:sp>
      <p:sp>
        <p:nvSpPr>
          <p:cNvPr id="272" name="Text 25"/>
          <p:cNvSpPr/>
          <p:nvPr/>
        </p:nvSpPr>
        <p:spPr>
          <a:xfrm>
            <a:off x="6227064" y="4626864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helps; needs human oversight</a:t>
            </a:r>
            <a:endParaRPr lang="en-US" sz="960" dirty="0"/>
          </a:p>
        </p:txBody>
      </p:sp>
      <p:sp>
        <p:nvSpPr>
          <p:cNvPr id="273" name="Text 25"/>
          <p:cNvSpPr/>
          <p:nvPr/>
        </p:nvSpPr>
        <p:spPr>
          <a:xfrm>
            <a:off x="8970264" y="4626864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Deepfakes; AI-made malware</a:t>
            </a:r>
            <a:endParaRPr lang="en-US" sz="960" dirty="0"/>
          </a:p>
        </p:txBody>
      </p:sp>
      <p:sp>
        <p:nvSpPr>
          <p:cNvPr id="274" name="Text 25"/>
          <p:cNvSpPr/>
          <p:nvPr/>
        </p:nvSpPr>
        <p:spPr>
          <a:xfrm>
            <a:off x="649224" y="5029200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</a:t>
            </a:r>
            <a:endParaRPr lang="en-US" sz="960" dirty="0"/>
          </a:p>
        </p:txBody>
      </p:sp>
      <p:sp>
        <p:nvSpPr>
          <p:cNvPr id="275" name="Text 25"/>
          <p:cNvSpPr/>
          <p:nvPr/>
        </p:nvSpPr>
        <p:spPr>
          <a:xfrm>
            <a:off x="1289304" y="5029200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276" name="Text 25"/>
          <p:cNvSpPr/>
          <p:nvPr/>
        </p:nvSpPr>
        <p:spPr>
          <a:xfrm>
            <a:off x="2020824" y="5029200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Interviews plus four crime theories</a:t>
            </a:r>
            <a:endParaRPr lang="en-US" sz="960" dirty="0"/>
          </a:p>
        </p:txBody>
      </p:sp>
      <p:sp>
        <p:nvSpPr>
          <p:cNvPr id="277" name="Text 25"/>
          <p:cNvSpPr/>
          <p:nvPr/>
        </p:nvSpPr>
        <p:spPr>
          <a:xfrm>
            <a:off x="4215383" y="5029200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Nigerian agencies</a:t>
            </a:r>
            <a:endParaRPr lang="en-US" sz="960" dirty="0"/>
          </a:p>
        </p:txBody>
      </p:sp>
      <p:sp>
        <p:nvSpPr>
          <p:cNvPr id="278" name="Text 25"/>
          <p:cNvSpPr/>
          <p:nvPr/>
        </p:nvSpPr>
        <p:spPr>
          <a:xfrm>
            <a:off x="6227064" y="5029200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cyberlaw; weak forensics</a:t>
            </a:r>
            <a:endParaRPr lang="en-US" sz="960" dirty="0"/>
          </a:p>
        </p:txBody>
      </p:sp>
      <p:sp>
        <p:nvSpPr>
          <p:cNvPr id="279" name="Text 25"/>
          <p:cNvSpPr/>
          <p:nvPr/>
        </p:nvSpPr>
        <p:spPr>
          <a:xfrm>
            <a:off x="8970264" y="5029200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gaps; low awareness</a:t>
            </a:r>
            <a:endParaRPr lang="en-US" sz="960" dirty="0"/>
          </a:p>
        </p:txBody>
      </p:sp>
      <p:sp>
        <p:nvSpPr>
          <p:cNvPr id="280" name="Text 25"/>
          <p:cNvSpPr/>
          <p:nvPr/>
        </p:nvSpPr>
        <p:spPr>
          <a:xfrm>
            <a:off x="649224" y="5431536"/>
            <a:ext cx="530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</a:t>
            </a:r>
            <a:endParaRPr lang="en-US" sz="960" dirty="0"/>
          </a:p>
        </p:txBody>
      </p:sp>
      <p:sp>
        <p:nvSpPr>
          <p:cNvPr id="281" name="Text 25"/>
          <p:cNvSpPr/>
          <p:nvPr/>
        </p:nvSpPr>
        <p:spPr>
          <a:xfrm>
            <a:off x="1289304" y="5431536"/>
            <a:ext cx="621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60" dirty="0"/>
          </a:p>
        </p:txBody>
      </p:sp>
      <p:sp>
        <p:nvSpPr>
          <p:cNvPr id="282" name="Text 25"/>
          <p:cNvSpPr/>
          <p:nvPr/>
        </p:nvSpPr>
        <p:spPr>
          <a:xfrm>
            <a:off x="2020824" y="5431536"/>
            <a:ext cx="208483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of 12 types of security</a:t>
            </a:r>
            <a:endParaRPr lang="en-US" sz="960" dirty="0"/>
          </a:p>
        </p:txBody>
      </p:sp>
      <p:sp>
        <p:nvSpPr>
          <p:cNvPr id="283" name="Text 25"/>
          <p:cNvSpPr/>
          <p:nvPr/>
        </p:nvSpPr>
        <p:spPr>
          <a:xfrm>
            <a:off x="4215383" y="5431536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internet</a:t>
            </a:r>
            <a:endParaRPr lang="en-US" sz="960" dirty="0"/>
          </a:p>
        </p:txBody>
      </p:sp>
      <p:sp>
        <p:nvSpPr>
          <p:cNvPr id="284" name="Text 25"/>
          <p:cNvSpPr/>
          <p:nvPr/>
        </p:nvSpPr>
        <p:spPr>
          <a:xfrm>
            <a:off x="6227064" y="5431536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strategy is enough</a:t>
            </a:r>
            <a:endParaRPr lang="en-US" sz="960" dirty="0"/>
          </a:p>
        </p:txBody>
      </p:sp>
      <p:sp>
        <p:nvSpPr>
          <p:cNvPr id="285" name="Text 25"/>
          <p:cNvSpPr/>
          <p:nvPr/>
        </p:nvSpPr>
        <p:spPr>
          <a:xfrm>
            <a:off x="8970264" y="5431536"/>
            <a:ext cx="2542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infrastructure; low awareness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papers were searched, screened and selected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7" y="1161288"/>
            <a:ext cx="3931217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36245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078992" y="13533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ScienceDirect, E3S, ICCWS, Mendeley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17556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8992" y="17465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cybersecurity, AI, IoT, law, risk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78992" y="21396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Years: 2021–2024 (where confirmed)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5420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78992" y="25328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Inclusion: cybersecurity focus, open link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78992" y="29260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Grouping: 4 themes across the studies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3284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78992" y="33192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selection: 10 papers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33872" y="1261872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10 studies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52360" y="1664208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33872" y="1975104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full text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52360" y="237744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33872" y="2688336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each study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52360" y="30906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33872" y="3401568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into 4 themes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52360" y="3803904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33872" y="4114800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key findings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52360" y="451713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833872" y="4828032"/>
            <a:ext cx="3401568" cy="329184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8D1DC"/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and synthesize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46920" y="1965960"/>
            <a:ext cx="1463040" cy="1645920"/>
          </a:xfrm>
          <a:prstGeom prst="rect">
            <a:avLst/>
          </a:prstGeom>
          <a:noFill/>
          <a:ln w="10160">
            <a:solidFill>
              <a:srgbClr val="C8D1DC"/>
            </a:solidFill>
          </a:ln>
        </p:spPr>
        <p:txBody>
          <a:bodyPr wrap="square" lIns="182880" tIns="182880" rIns="182880" bIns="508" rtlCol="0" anchor="t">
            <a:norm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A2342"/>
                </a:solidFill>
                <a:latin typeface="Arial"/>
              </a:rPr>
              <a:t>4 themes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Legal &amp; social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AI in defense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Connected infrastructure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11111"/>
                </a:solidFill>
                <a:latin typeface="Arial"/>
              </a:rPr>
              <a:t>Organizational &amp; economic</a:t>
            </a:r>
          </a:p>
        </p:txBody>
      </p:sp>
      <p:sp>
        <p:nvSpPr>
          <p:cNvPr id="30" name="Text 27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Studies per Theme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ten reviewed studies are distributed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3183870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731520" y="1417320"/>
          <a:ext cx="612648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406640" y="144475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chart shows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24928" y="20665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2057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and organizational topics cover 6 of the 10 studies.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24928" y="2706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0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is central in 4 studies and mentioned in 3 more.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24928" y="33467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680960" y="33375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[7] runs experiments, so results are not directly comparable.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comparison actually tells us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 flipV="1">
            <a:off x="658368" y="1152144"/>
            <a:ext cx="2656332" cy="9144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35608" y="141732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approach works best</a:t>
            </a:r>
            <a:endParaRPr lang="en-US" sz="1480" dirty="0"/>
          </a:p>
        </p:txBody>
      </p:sp>
      <p:sp>
        <p:nvSpPr>
          <p:cNvPr id="7" name="Text 5"/>
          <p:cNvSpPr/>
          <p:nvPr/>
        </p:nvSpPr>
        <p:spPr>
          <a:xfrm>
            <a:off x="1435608" y="165506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alone: law, AI, and people must work together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2112264"/>
            <a:ext cx="50292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35608" y="2926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findings differ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1435608" y="31638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countries, sectors, and kinds of evidence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3621024"/>
            <a:ext cx="502920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356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59168" y="14173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results comparable?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7059168" y="165506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no: methods range from legal analysis to ML experiments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2112264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94436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59168" y="292608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almost everyone ignored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7059168" y="3163824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validation and the capacity to enforce laws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3621024"/>
            <a:ext cx="4846320" cy="0"/>
          </a:xfrm>
          <a:prstGeom prst="line">
            <a:avLst/>
          </a:prstGeom>
          <a:noFill/>
          <a:ln w="762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a listener should remember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2999232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325880" y="2587752"/>
            <a:ext cx="196596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15568" y="2880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10 papers put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at the center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74920" y="2587752"/>
            <a:ext cx="196596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4608" y="2880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10 papers found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laws weakly enforced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8823960" y="2587752"/>
            <a:ext cx="1965960" cy="0"/>
          </a:xfrm>
          <a:prstGeom prst="line">
            <a:avLst/>
          </a:prstGeom>
          <a:noFill/>
          <a:ln w="1524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13648" y="28803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tie outcomes to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training, governance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Being honest about this review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2199132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this review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874520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10 papers were reviewed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2359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350008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English-language sources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825496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2024 papers; years unconfirmed for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300984"/>
            <a:ext cx="434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experiment was performed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89320" y="1417320"/>
            <a:ext cx="0" cy="3977640"/>
          </a:xfrm>
          <a:prstGeom prst="line">
            <a:avLst/>
          </a:prstGeom>
          <a:noFill/>
          <a:ln w="10160">
            <a:solidFill>
              <a:srgbClr val="C8D1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0528" y="188366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87452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more papers and more years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235915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350008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detectors on real-time data [7]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2834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825496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enforcement and forensic capacity [1], [8]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331012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30098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security into twins and LLMs [3], [9]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the review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1689178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600200"/>
            <a:ext cx="969264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review analysed 10 studies on cybersecurity across legal, AI, connected-infrastructure, and organizational perspectives.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finding is that no single tool or law is enough: protection needs law, technology, and people together.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second finding is that AI improves detection and response but also arms attackers, so human oversight is essential.</a:t>
            </a:r>
            <a:endParaRPr lang="en-US" sz="2200" dirty="0"/>
          </a:p>
          <a:p>
            <a:pPr marL="0" indent="0" algn="ctr">
              <a:buNone/>
            </a:pPr>
            <a:endParaRPr lang="en-US" sz="2200" dirty="0"/>
          </a:p>
          <a:p>
            <a:pPr marL="0" indent="0" algn="ctr">
              <a:buNone/>
            </a:pPr>
            <a:r>
              <a:rPr lang="en-US" sz="22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open problem is weak enforcement and the lack of real-world validation, from courts to real-time IoT data.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393192"/>
            <a:ext cx="8595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4124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ten sources; full links are in the paper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161288"/>
            <a:ext cx="2814594" cy="0"/>
          </a:xfrm>
          <a:prstGeom prst="line">
            <a:avLst/>
          </a:prstGeom>
          <a:noFill/>
          <a:ln w="1905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10607040" cy="3749039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M. Watney, "Exploring South Africa's cybersecurity legal framework regulating information confidentiality, integrity, and availability," in Proc. ICCWS, 2024.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"The future of artificial intelligence and cybersecurity."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A. J. G. de Azambuja et al., "Digital twins in Industry 4.0 – opportunities and challenges related to cyber security," Procedia CIRP, vol. 121, 2024.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"Evolution of endpoint detection and response (EDR) in cyber security: A comprehensive review," E3S Web of Conf., 2024.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 "Digital security challenges faced by business organizations," in Proc. ICAROB, 2024.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 "Economic impact of cyber attacks and effective cyber risk management strategies," Procedia Comput. Sci.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 "Machine learning based intrusion detection for cyber-security in IoT networks," E3S Web of Conf., 2021.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[8]  "A socio-technological analysis of cybercrime and cyber security in Nigeria."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[9]  "The three sides of the moon: LLMs in cybersecurity: Guardians, enablers and targets," Procedia Comput. Sci.</a:t>
            </a:r>
            <a:endParaRPr lang="en-US" sz="116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[10]  "Vulnerability of cyber security is an unexpected threat to global internet system."</a:t>
            </a:r>
            <a:endParaRPr lang="en-US" sz="1160" dirty="0"/>
          </a:p>
        </p:txBody>
      </p:sp>
      <p:sp>
        <p:nvSpPr>
          <p:cNvPr id="6" name="Text 4"/>
          <p:cNvSpPr/>
          <p:nvPr/>
        </p:nvSpPr>
        <p:spPr>
          <a:xfrm>
            <a:off x="804672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23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1228832" y="643737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0A23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1878</Words>
  <Application>Microsoft Office PowerPoint</Application>
  <PresentationFormat>Widescreen</PresentationFormat>
  <Paragraphs>323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Computer Science and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Paper Presentation Template - Black Navy White</dc:title>
  <dc:subject>Review Paper Presentation Template</dc:subject>
  <dc:creator>Shovon Mandal</dc:creator>
  <cp:lastModifiedBy>Adnan Ahemed</cp:lastModifiedBy>
  <cp:revision>4</cp:revision>
  <dcterms:created xsi:type="dcterms:W3CDTF">2026-09-17T20:41:56Z</dcterms:created>
  <dcterms:modified xsi:type="dcterms:W3CDTF">2026-09-30T19:35:02Z</dcterms:modified>
</cp:coreProperties>
</file>